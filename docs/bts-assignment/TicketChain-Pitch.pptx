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21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(~30s). Say the name and the one-line value prop. Don't dive into tech yet. 6 speakers — split the sections. 15 min total, keep the live demo at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 for Problem + Persona. Start with the pain, not the tech. Key line: the fan suffers the scam, but the organizer loses the revenue AND can act — hence our B2B buyer.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B2B2C model: Karim is the economic buyer (pays / adopts / monetizes), Léa is the beneficiary whose pain justifies it all. [TO VALIDATE] = quotes to replace with real interview verbatims before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Read the matrix left to right: nobody ticks all three columns openly. Answer 'why now' crisply. Stay on OUR segment, don't drown the jury in the whole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 answer to the 'why blockchain' the jury will ask. Key point: independent verification and a cap enforced in code are impossible with a centralized database you must take on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This is REAL execution proof we already have. Show one transaction on Etherscan on screen. Be clear what it proves (the contract) — demand validation (next slide) is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— this slide is a TEMPLATE. Replace every [ • ] with your REAL numbers (survey N, interviews, links, sign-ups) before presenting. Never invent numbers: the brief says 'a number without a link is just a guess'.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core journey BEFORE switching to the live demo. Key line: one full journey that works beats five half-built ones. Then go straight into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bridge from the journey into the live demo. These are real screenshots of the deployed app, not mockups.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 — THE CORE. Do the demo early. Replace [your-app].vercel.app with the real URL. Keep this run-of-show in view. Have the backup video open in a tab. Show a real transaction on Etherscan. (Order mirrors the app's own /demo page.)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(economics). ~25 CHF and 5–10% are HYPOTHESES to anchor on a real pilot-event price. Be explicit that the commission is the next engineering step, not built yet — never let it look functional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One channel first: direct outreach to independent venues. The pilot is the proof for moving upmarket. Win ONE channel before spreading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Start with the pain, not the tech. The message speaks first to the B2B buyer (Karim). Stay consistent: same name, same tagline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Close with a clear ask (the brief requires it). Be ready for 'why blockchain?' in one crisp sentence. Thanks +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4008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BTS · FINTECH SUMMER SCHOOL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1170432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TicketChain</a:t>
            </a:r>
            <a:endParaRPr lang="en-US" sz="6600" dirty="0"/>
          </a:p>
        </p:txBody>
      </p:sp>
      <p:sp>
        <p:nvSpPr>
          <p:cNvPr id="31" name="Text 29"/>
          <p:cNvSpPr/>
          <p:nvPr/>
        </p:nvSpPr>
        <p:spPr>
          <a:xfrm>
            <a:off x="640080" y="23957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 concert tickets, verified on-chain.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640080" y="34290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Concert tickets you can't copy, can't overprice on resale, and can't use twice.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85800" y="452628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40080" y="448056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626864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33856" y="4480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 testnet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2679192" y="452628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2633472" y="448056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26864"/>
            <a:ext cx="274320" cy="27432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127248" y="4480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MVP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4672584" y="452628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8"/>
          <p:cNvSpPr/>
          <p:nvPr/>
        </p:nvSpPr>
        <p:spPr>
          <a:xfrm>
            <a:off x="4626864" y="448056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626864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120640" y="4480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45" name="Text 40"/>
          <p:cNvSpPr/>
          <p:nvPr/>
        </p:nvSpPr>
        <p:spPr>
          <a:xfrm>
            <a:off x="6400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Practical project · A working blockchain application — built, validated, presented live.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7123176" y="2231136"/>
            <a:ext cx="4846320" cy="2724912"/>
          </a:xfrm>
          <a:prstGeom prst="rect">
            <a:avLst/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7" name="Image 3" descr="/Users/adambokobza/Desktop/afs/ticketChain/docs/bts-assignment/assets/ticketchain-h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148840"/>
            <a:ext cx="4846320" cy="2724912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7040880" y="2148840"/>
            <a:ext cx="4846320" cy="2724912"/>
          </a:xfrm>
          <a:prstGeom prst="rect">
            <a:avLst/>
          </a:prstGeom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3"/>
          <p:cNvSpPr/>
          <p:nvPr/>
        </p:nvSpPr>
        <p:spPr>
          <a:xfrm>
            <a:off x="704088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landing page on Sepolia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3DD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&amp; PERSONA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85800" y="182880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640080" y="17830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1954256"/>
            <a:ext cx="316017" cy="316017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481328" y="1764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tickets &amp; duplicates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1481328" y="2130552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ticket can be sold to several people; buyers can't check authenticity before paying.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685800" y="3246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6"/>
          <p:cNvSpPr/>
          <p:nvPr/>
        </p:nvSpPr>
        <p:spPr>
          <a:xfrm>
            <a:off x="640080" y="320040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56" y="3371576"/>
            <a:ext cx="316017" cy="316017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481328" y="3182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resale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1481328" y="3547872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Vinted, Facebook groups, bots: prices spike and the organizer earns nothing on that resale.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685800" y="466344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0"/>
          <p:cNvSpPr/>
          <p:nvPr/>
        </p:nvSpPr>
        <p:spPr>
          <a:xfrm>
            <a:off x="640080" y="46177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256" y="4788896"/>
            <a:ext cx="316017" cy="316017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1481328" y="4599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 at the door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1481328" y="4965192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screenshot is enough to get in: entry control doesn't prove the person really owns the ticket.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534656" y="1865376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4"/>
          <p:cNvSpPr/>
          <p:nvPr/>
        </p:nvSpPr>
        <p:spPr>
          <a:xfrm>
            <a:off x="7452360" y="178308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5"/>
          <p:cNvSpPr/>
          <p:nvPr/>
        </p:nvSpPr>
        <p:spPr>
          <a:xfrm>
            <a:off x="7772400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victims, one gap</a:t>
            </a:r>
            <a:endParaRPr lang="en-US" sz="1800" dirty="0"/>
          </a:p>
        </p:txBody>
      </p:sp>
      <p:sp>
        <p:nvSpPr>
          <p:cNvPr id="52" name="Shape 46"/>
          <p:cNvSpPr/>
          <p:nvPr/>
        </p:nvSpPr>
        <p:spPr>
          <a:xfrm>
            <a:off x="7818120" y="2788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47"/>
          <p:cNvSpPr/>
          <p:nvPr/>
        </p:nvSpPr>
        <p:spPr>
          <a:xfrm>
            <a:off x="7772400" y="2743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CE9F7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801" y="2890601"/>
            <a:ext cx="272125" cy="272125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8485632" y="2724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5B4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organizer</a:t>
            </a:r>
            <a:endParaRPr lang="en-US" sz="1450" dirty="0"/>
          </a:p>
        </p:txBody>
      </p:sp>
      <p:sp>
        <p:nvSpPr>
          <p:cNvPr id="56" name="Text 49"/>
          <p:cNvSpPr/>
          <p:nvPr/>
        </p:nvSpPr>
        <p:spPr>
          <a:xfrm>
            <a:off x="8485632" y="3054096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Loses resale revenue and sees its reputation hurt by fraud and scams.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7818120" y="4297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1"/>
          <p:cNvSpPr/>
          <p:nvPr/>
        </p:nvSpPr>
        <p:spPr>
          <a:xfrm>
            <a:off x="7772400" y="42519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E3DD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9801" y="4399361"/>
            <a:ext cx="272125" cy="272125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8485632" y="42336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D96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fan</a:t>
            </a:r>
            <a:endParaRPr lang="en-US" sz="1450" dirty="0"/>
          </a:p>
        </p:txBody>
      </p:sp>
      <p:sp>
        <p:nvSpPr>
          <p:cNvPr id="61" name="Text 53"/>
          <p:cNvSpPr/>
          <p:nvPr/>
        </p:nvSpPr>
        <p:spPr>
          <a:xfrm>
            <a:off x="8485632" y="4562856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buying a fake, already-used, or multiply-sold ticket — with no guarantee.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CE9F7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&amp; PERSONA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30936" y="1773936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676656" y="1801368"/>
            <a:ext cx="822960" cy="73152"/>
          </a:xfrm>
          <a:prstGeom prst="rect">
            <a:avLst/>
          </a:prstGeom>
          <a:solidFill>
            <a:srgbClr val="5B4B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886968" y="205740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841248" y="20116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2182856"/>
            <a:ext cx="316017" cy="316017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645920" y="2048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PERSONA · THE BUYER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1645920" y="22860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Karim, 38 — product lead at an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ticketing operator</a:t>
            </a:r>
            <a:endParaRPr lang="en-US" sz="1450" dirty="0"/>
          </a:p>
        </p:txBody>
      </p:sp>
      <p:sp>
        <p:nvSpPr>
          <p:cNvPr id="42" name="Text 38"/>
          <p:cNvSpPr/>
          <p:nvPr/>
        </p:nvSpPr>
        <p:spPr>
          <a:xfrm>
            <a:off x="859536" y="3127248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B4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</a:t>
            </a: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fraud and capture a share of resale instead of letting it slip away.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859536" y="3968496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B4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#1  </a:t>
            </a: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market pockets all the speculation; he gets none of it. [TO VALIDATE]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859536" y="4809744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B4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</a:t>
            </a: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ticketing (Eventbrite) with no cap and no independent verification.</a:t>
            </a:r>
            <a:endParaRPr lang="en-US" sz="1250" dirty="0"/>
          </a:p>
        </p:txBody>
      </p:sp>
      <p:sp>
        <p:nvSpPr>
          <p:cNvPr id="45" name="Shape 41"/>
          <p:cNvSpPr/>
          <p:nvPr/>
        </p:nvSpPr>
        <p:spPr>
          <a:xfrm>
            <a:off x="6327648" y="1773936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2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3"/>
          <p:cNvSpPr/>
          <p:nvPr/>
        </p:nvSpPr>
        <p:spPr>
          <a:xfrm>
            <a:off x="6373368" y="1801368"/>
            <a:ext cx="822960" cy="73152"/>
          </a:xfrm>
          <a:prstGeom prst="rect">
            <a:avLst/>
          </a:prstGeom>
          <a:solidFill>
            <a:srgbClr val="D960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4"/>
          <p:cNvSpPr/>
          <p:nvPr/>
        </p:nvSpPr>
        <p:spPr>
          <a:xfrm>
            <a:off x="6583680" y="205740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5"/>
          <p:cNvSpPr/>
          <p:nvPr/>
        </p:nvSpPr>
        <p:spPr>
          <a:xfrm>
            <a:off x="6537960" y="20116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36" y="2182856"/>
            <a:ext cx="316017" cy="316017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7342632" y="2048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D9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PERSONA · THE BENEFICIARY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7342632" y="22860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Léa, 24 — student, buys and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resells second-hand</a:t>
            </a:r>
            <a:endParaRPr lang="en-US" sz="1450" dirty="0"/>
          </a:p>
        </p:txBody>
      </p:sp>
      <p:sp>
        <p:nvSpPr>
          <p:cNvPr id="53" name="Text 48"/>
          <p:cNvSpPr/>
          <p:nvPr/>
        </p:nvSpPr>
        <p:spPr>
          <a:xfrm>
            <a:off x="6556248" y="3127248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96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</a:t>
            </a: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concerts without getting scammed; resell without losing money or being blamed.</a:t>
            </a:r>
            <a:endParaRPr lang="en-US" sz="1250" dirty="0"/>
          </a:p>
        </p:txBody>
      </p:sp>
      <p:sp>
        <p:nvSpPr>
          <p:cNvPr id="54" name="Text 49"/>
          <p:cNvSpPr/>
          <p:nvPr/>
        </p:nvSpPr>
        <p:spPr>
          <a:xfrm>
            <a:off x="6556248" y="3968496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96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#1  </a:t>
            </a: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a ticket that's already used, fake, or sold to several people. [TO VALIDATE]</a:t>
            </a:r>
            <a:endParaRPr lang="en-US" sz="1250" dirty="0"/>
          </a:p>
        </p:txBody>
      </p:sp>
      <p:sp>
        <p:nvSpPr>
          <p:cNvPr id="55" name="Text 50"/>
          <p:cNvSpPr/>
          <p:nvPr/>
        </p:nvSpPr>
        <p:spPr>
          <a:xfrm>
            <a:off x="6556248" y="4809744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96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role  </a:t>
            </a:r>
            <a:r>
              <a:rPr lang="en-US" sz="12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pain proves the problem is real — but she is not the one who signs.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2EEFB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MARKET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why now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548640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matrix</a:t>
            </a:r>
            <a:endParaRPr lang="en-US" sz="1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6903720" cy="31089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Resale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Eventbrite / classic ticketing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60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60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Ticketmaster (SafeTix)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60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Wild resale (Vinted, FB, bots)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60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60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60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TicketChain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7808976" y="1655064"/>
            <a:ext cx="3886200" cy="4434840"/>
          </a:xfrm>
          <a:prstGeom prst="roundRect">
            <a:avLst>
              <a:gd name="adj" fmla="val 2353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3"/>
          <p:cNvSpPr/>
          <p:nvPr/>
        </p:nvSpPr>
        <p:spPr>
          <a:xfrm>
            <a:off x="7726680" y="1572768"/>
            <a:ext cx="3886200" cy="443484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4"/>
          <p:cNvSpPr/>
          <p:nvPr/>
        </p:nvSpPr>
        <p:spPr>
          <a:xfrm>
            <a:off x="8046720" y="187452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5"/>
          <p:cNvSpPr/>
          <p:nvPr/>
        </p:nvSpPr>
        <p:spPr>
          <a:xfrm>
            <a:off x="8001000" y="182880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156" y="1980956"/>
            <a:ext cx="280904" cy="28090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732520" y="1847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028432" y="260604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 standards (ERC-721) are mature and battle-tested.</a:t>
            </a:r>
            <a:endParaRPr lang="en-US" sz="12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networks make the per-transaction cost negligible.</a:t>
            </a:r>
            <a:endParaRPr lang="en-US" sz="12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Secondary-market fraud keeps growing.</a:t>
            </a:r>
            <a:endParaRPr lang="en-US" sz="12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Public, independent verification is finally feasible.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028432" y="49834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56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we fill: </a:t>
            </a: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resale cap and an authenticity proof no one offers openly.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CE9F7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DESIGN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blockchain?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1444752" y="13167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test: does it really need one? Yes — a classic database would not do this.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30936" y="1865376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548640" y="178308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676656" y="1892808"/>
            <a:ext cx="82296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886968" y="2148840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841248" y="2103120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FF4E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79" y="2279051"/>
            <a:ext cx="324795" cy="324795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41248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by anyone</a:t>
            </a:r>
            <a:endParaRPr lang="en-US" sz="1550" dirty="0"/>
          </a:p>
        </p:txBody>
      </p:sp>
      <p:sp>
        <p:nvSpPr>
          <p:cNvPr id="42" name="Text 38"/>
          <p:cNvSpPr/>
          <p:nvPr/>
        </p:nvSpPr>
        <p:spPr>
          <a:xfrm>
            <a:off x="841248" y="34015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checks authenticity on Etherscan — no trusted, closed middleman required.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4379976" y="1865376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0"/>
          <p:cNvSpPr/>
          <p:nvPr/>
        </p:nvSpPr>
        <p:spPr>
          <a:xfrm>
            <a:off x="4297680" y="178308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1"/>
          <p:cNvSpPr/>
          <p:nvPr/>
        </p:nvSpPr>
        <p:spPr>
          <a:xfrm>
            <a:off x="4425696" y="1892808"/>
            <a:ext cx="822960" cy="73152"/>
          </a:xfrm>
          <a:prstGeom prst="rect">
            <a:avLst/>
          </a:prstGeom>
          <a:solidFill>
            <a:srgbClr val="5B4B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2"/>
          <p:cNvSpPr/>
          <p:nvPr/>
        </p:nvSpPr>
        <p:spPr>
          <a:xfrm>
            <a:off x="4636008" y="2148840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3"/>
          <p:cNvSpPr/>
          <p:nvPr/>
        </p:nvSpPr>
        <p:spPr>
          <a:xfrm>
            <a:off x="4590288" y="2103120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ECE9F7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219" y="2279051"/>
            <a:ext cx="324795" cy="324795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4590288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Tamper-proof ownership</a:t>
            </a:r>
            <a:endParaRPr lang="en-US" sz="1550" dirty="0"/>
          </a:p>
        </p:txBody>
      </p:sp>
      <p:sp>
        <p:nvSpPr>
          <p:cNvPr id="50" name="Text 45"/>
          <p:cNvSpPr/>
          <p:nvPr/>
        </p:nvSpPr>
        <p:spPr>
          <a:xfrm>
            <a:off x="4590288" y="34015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ticket is a unique NFT: impossible to copy or to sell twice.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8129016" y="1865376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47"/>
          <p:cNvSpPr/>
          <p:nvPr/>
        </p:nvSpPr>
        <p:spPr>
          <a:xfrm>
            <a:off x="8046720" y="178308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48"/>
          <p:cNvSpPr/>
          <p:nvPr/>
        </p:nvSpPr>
        <p:spPr>
          <a:xfrm>
            <a:off x="8174736" y="1892808"/>
            <a:ext cx="822960" cy="73152"/>
          </a:xfrm>
          <a:prstGeom prst="rect">
            <a:avLst/>
          </a:prstGeom>
          <a:solidFill>
            <a:srgbClr val="D960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9"/>
          <p:cNvSpPr/>
          <p:nvPr/>
        </p:nvSpPr>
        <p:spPr>
          <a:xfrm>
            <a:off x="8385048" y="2148840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0"/>
          <p:cNvSpPr/>
          <p:nvPr/>
        </p:nvSpPr>
        <p:spPr>
          <a:xfrm>
            <a:off x="8339328" y="2103120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FFE3DD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259" y="2279051"/>
            <a:ext cx="324795" cy="324795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8339328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enforced in code</a:t>
            </a:r>
            <a:endParaRPr lang="en-US" sz="1550" dirty="0"/>
          </a:p>
        </p:txBody>
      </p:sp>
      <p:sp>
        <p:nvSpPr>
          <p:cNvPr id="58" name="Text 52"/>
          <p:cNvSpPr/>
          <p:nvPr/>
        </p:nvSpPr>
        <p:spPr>
          <a:xfrm>
            <a:off x="8339328" y="34015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resale cap and the 'used' status are enforced by the contract, not by a promise.</a:t>
            </a:r>
            <a:endParaRPr lang="en-US" sz="1200" dirty="0"/>
          </a:p>
        </p:txBody>
      </p:sp>
      <p:sp>
        <p:nvSpPr>
          <p:cNvPr id="59" name="Shape 53"/>
          <p:cNvSpPr/>
          <p:nvPr/>
        </p:nvSpPr>
        <p:spPr>
          <a:xfrm>
            <a:off x="630936" y="4700016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4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0131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5"/>
          <p:cNvSpPr/>
          <p:nvPr/>
        </p:nvSpPr>
        <p:spPr>
          <a:xfrm>
            <a:off x="868680" y="47731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ON-CHAIN   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ownership · resale cap · 'used' status · concert cancellation</a:t>
            </a:r>
            <a:endParaRPr lang="en-US" sz="1200" dirty="0"/>
          </a:p>
        </p:txBody>
      </p:sp>
      <p:sp>
        <p:nvSpPr>
          <p:cNvPr id="62" name="Text 56"/>
          <p:cNvSpPr/>
          <p:nvPr/>
        </p:nvSpPr>
        <p:spPr>
          <a:xfrm>
            <a:off x="868680" y="53766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C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OFF-CHAIN  </a:t>
            </a:r>
            <a:r>
              <a:rPr lang="en-US" sz="1250" dirty="0">
                <a:solidFill>
                  <a:srgbClr val="E9E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 proof via wallet signature (EIP-191) · interface display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FF4E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VALIDATION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holds up — 17/17 on-chain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30936" y="1773936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48640" y="169164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0131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548640" y="210312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5D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17/17</a:t>
            </a:r>
            <a:endParaRPr lang="en-US" sz="7000" dirty="0"/>
          </a:p>
        </p:txBody>
      </p:sp>
      <p:sp>
        <p:nvSpPr>
          <p:cNvPr id="37" name="Text 34"/>
          <p:cNvSpPr/>
          <p:nvPr/>
        </p:nvSpPr>
        <p:spPr>
          <a:xfrm>
            <a:off x="731520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steps validated on-chain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3152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Sepolia transactions, real gas, publicly visible on Etherscan.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31520" y="5440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C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validate-live-deployment.ts</a:t>
            </a:r>
            <a:endParaRPr lang="en-US" sz="10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755648"/>
            <a:ext cx="384048" cy="3840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800600" y="1691640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purchase (buyTicket)</a:t>
            </a:r>
            <a:endParaRPr lang="en-US" sz="13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459736"/>
            <a:ext cx="384048" cy="38404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800600" y="239572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Resale at the capped price</a:t>
            </a:r>
            <a:endParaRPr lang="en-US" sz="135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163824"/>
            <a:ext cx="384048" cy="38404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4800600" y="3099816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 proof EIP-191 (signer = on-chain owner)</a:t>
            </a:r>
            <a:endParaRPr lang="en-US" sz="135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867912"/>
            <a:ext cx="384048" cy="38404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800600" y="3803904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used at the gate</a:t>
            </a:r>
            <a:endParaRPr lang="en-US" sz="135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572000"/>
            <a:ext cx="384048" cy="38404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4800600" y="4507992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Double-use rejected</a:t>
            </a:r>
            <a:endParaRPr lang="en-US" sz="135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5276088"/>
            <a:ext cx="384048" cy="38404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800600" y="5212080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+ transfer / resale rejected</a:t>
            </a:r>
            <a:endParaRPr lang="en-US" sz="1350" dirty="0"/>
          </a:p>
        </p:txBody>
      </p:sp>
      <p:sp>
        <p:nvSpPr>
          <p:cNvPr id="52" name="Text 43"/>
          <p:cNvSpPr/>
          <p:nvPr/>
        </p:nvSpPr>
        <p:spPr>
          <a:xfrm>
            <a:off x="42976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contract: </a:t>
            </a:r>
            <a:r>
              <a:rPr lang="en-US" sz="1200" b="1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0xcf91…4259</a:t>
            </a: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sepolia.etherscan.io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3DD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VALIDATION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demand — the evidence file</a:t>
            </a:r>
            <a:endParaRPr lang="en-US" sz="3000" dirty="0"/>
          </a:p>
        </p:txBody>
      </p:sp>
      <p:sp>
        <p:nvSpPr>
          <p:cNvPr id="35" name="Shape 32"/>
          <p:cNvSpPr/>
          <p:nvPr/>
        </p:nvSpPr>
        <p:spPr>
          <a:xfrm>
            <a:off x="630936" y="1911096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548640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868680" y="214884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822960" y="210312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6" y="2264786"/>
            <a:ext cx="298460" cy="29846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591056" y="2139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survey</a:t>
            </a:r>
            <a:endParaRPr lang="en-US" sz="1500" dirty="0"/>
          </a:p>
        </p:txBody>
      </p:sp>
      <p:sp>
        <p:nvSpPr>
          <p:cNvPr id="41" name="Text 37"/>
          <p:cNvSpPr/>
          <p:nvPr/>
        </p:nvSpPr>
        <p:spPr>
          <a:xfrm>
            <a:off x="1591056" y="25054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Forms / Typeform, posted on Reddit &amp; Discord.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822960" y="314553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12700">
            <a:solidFill>
              <a:srgbClr val="B7791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39"/>
          <p:cNvSpPr/>
          <p:nvPr/>
        </p:nvSpPr>
        <p:spPr>
          <a:xfrm>
            <a:off x="822960" y="314553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[ • ]  responses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6254496" y="1911096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1"/>
          <p:cNvSpPr/>
          <p:nvPr/>
        </p:nvSpPr>
        <p:spPr>
          <a:xfrm>
            <a:off x="6172200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2"/>
          <p:cNvSpPr/>
          <p:nvPr/>
        </p:nvSpPr>
        <p:spPr>
          <a:xfrm>
            <a:off x="6492240" y="214884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3"/>
          <p:cNvSpPr/>
          <p:nvPr/>
        </p:nvSpPr>
        <p:spPr>
          <a:xfrm>
            <a:off x="6446520" y="210312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186" y="2264786"/>
            <a:ext cx="298460" cy="29846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214616" y="2139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interviews</a:t>
            </a:r>
            <a:endParaRPr lang="en-US" sz="1500" dirty="0"/>
          </a:p>
        </p:txBody>
      </p:sp>
      <p:sp>
        <p:nvSpPr>
          <p:cNvPr id="50" name="Text 45"/>
          <p:cNvSpPr/>
          <p:nvPr/>
        </p:nvSpPr>
        <p:spPr>
          <a:xfrm>
            <a:off x="7214616" y="25054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to 10 conversations with real fans / organizers.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6446520" y="314553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12700">
            <a:solidFill>
              <a:srgbClr val="B7791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7"/>
          <p:cNvSpPr/>
          <p:nvPr/>
        </p:nvSpPr>
        <p:spPr>
          <a:xfrm>
            <a:off x="6446520" y="314553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• ]  real quotes</a:t>
            </a:r>
            <a:endParaRPr lang="en-US" sz="1150" dirty="0"/>
          </a:p>
        </p:txBody>
      </p:sp>
      <p:sp>
        <p:nvSpPr>
          <p:cNvPr id="53" name="Shape 48"/>
          <p:cNvSpPr/>
          <p:nvPr/>
        </p:nvSpPr>
        <p:spPr>
          <a:xfrm>
            <a:off x="630936" y="4059936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9"/>
          <p:cNvSpPr/>
          <p:nvPr/>
        </p:nvSpPr>
        <p:spPr>
          <a:xfrm>
            <a:off x="548640" y="3977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0"/>
          <p:cNvSpPr/>
          <p:nvPr/>
        </p:nvSpPr>
        <p:spPr>
          <a:xfrm>
            <a:off x="868680" y="42976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1"/>
          <p:cNvSpPr/>
          <p:nvPr/>
        </p:nvSpPr>
        <p:spPr>
          <a:xfrm>
            <a:off x="822960" y="425196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626" y="4413626"/>
            <a:ext cx="298460" cy="29846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591056" y="4288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500" dirty="0"/>
          </a:p>
        </p:txBody>
      </p:sp>
      <p:sp>
        <p:nvSpPr>
          <p:cNvPr id="59" name="Text 53"/>
          <p:cNvSpPr/>
          <p:nvPr/>
        </p:nvSpPr>
        <p:spPr>
          <a:xfrm>
            <a:off x="1591056" y="46542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/ Discord threads of fans in the target segment.</a:t>
            </a:r>
            <a:endParaRPr lang="en-US" sz="1150" dirty="0"/>
          </a:p>
        </p:txBody>
      </p:sp>
      <p:sp>
        <p:nvSpPr>
          <p:cNvPr id="60" name="Shape 54"/>
          <p:cNvSpPr/>
          <p:nvPr/>
        </p:nvSpPr>
        <p:spPr>
          <a:xfrm>
            <a:off x="822960" y="529437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12700">
            <a:solidFill>
              <a:srgbClr val="B7791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5"/>
          <p:cNvSpPr/>
          <p:nvPr/>
        </p:nvSpPr>
        <p:spPr>
          <a:xfrm>
            <a:off x="822960" y="529437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• ]  links captured</a:t>
            </a:r>
            <a:endParaRPr lang="en-US" sz="1150" dirty="0"/>
          </a:p>
        </p:txBody>
      </p:sp>
      <p:sp>
        <p:nvSpPr>
          <p:cNvPr id="62" name="Shape 56"/>
          <p:cNvSpPr/>
          <p:nvPr/>
        </p:nvSpPr>
        <p:spPr>
          <a:xfrm>
            <a:off x="6254496" y="4059936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57"/>
          <p:cNvSpPr/>
          <p:nvPr/>
        </p:nvSpPr>
        <p:spPr>
          <a:xfrm>
            <a:off x="6172200" y="3977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58"/>
          <p:cNvSpPr/>
          <p:nvPr/>
        </p:nvSpPr>
        <p:spPr>
          <a:xfrm>
            <a:off x="6492240" y="42976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59"/>
          <p:cNvSpPr/>
          <p:nvPr/>
        </p:nvSpPr>
        <p:spPr>
          <a:xfrm>
            <a:off x="6446520" y="425196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186" y="4413626"/>
            <a:ext cx="298460" cy="298460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7214616" y="4288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door / waitlist</a:t>
            </a:r>
            <a:endParaRPr lang="en-US" sz="1500" dirty="0"/>
          </a:p>
        </p:txBody>
      </p:sp>
      <p:sp>
        <p:nvSpPr>
          <p:cNvPr id="68" name="Text 61"/>
          <p:cNvSpPr/>
          <p:nvPr/>
        </p:nvSpPr>
        <p:spPr>
          <a:xfrm>
            <a:off x="7214616" y="46542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landing page to measure real interest.</a:t>
            </a:r>
            <a:endParaRPr lang="en-US" sz="1150" dirty="0"/>
          </a:p>
        </p:txBody>
      </p:sp>
      <p:sp>
        <p:nvSpPr>
          <p:cNvPr id="69" name="Shape 62"/>
          <p:cNvSpPr/>
          <p:nvPr/>
        </p:nvSpPr>
        <p:spPr>
          <a:xfrm>
            <a:off x="6446520" y="529437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12700">
            <a:solidFill>
              <a:srgbClr val="B7791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3"/>
          <p:cNvSpPr/>
          <p:nvPr/>
        </p:nvSpPr>
        <p:spPr>
          <a:xfrm>
            <a:off x="6446520" y="529437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• ]  sign-ups</a:t>
            </a:r>
            <a:endParaRPr lang="en-US" sz="1150" dirty="0"/>
          </a:p>
        </p:txBody>
      </p:sp>
      <p:sp>
        <p:nvSpPr>
          <p:cNvPr id="71" name="Text 64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Brief's advice: ask about past behavior (not “would you use it?”), talk to strangers, screenshot everything.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MVP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— one full journey that works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30936" y="1773936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850392" y="1993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804672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2090318"/>
            <a:ext cx="263347" cy="263347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246120" y="18379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40" name="Text 36"/>
          <p:cNvSpPr/>
          <p:nvPr/>
        </p:nvSpPr>
        <p:spPr>
          <a:xfrm>
            <a:off x="1463040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concert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80467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organizer opens the event and its on-chain inventory.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4379976" y="1773936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9"/>
          <p:cNvSpPr/>
          <p:nvPr/>
        </p:nvSpPr>
        <p:spPr>
          <a:xfrm>
            <a:off x="429768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0"/>
          <p:cNvSpPr/>
          <p:nvPr/>
        </p:nvSpPr>
        <p:spPr>
          <a:xfrm>
            <a:off x="4599432" y="1993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1"/>
          <p:cNvSpPr/>
          <p:nvPr/>
        </p:nvSpPr>
        <p:spPr>
          <a:xfrm>
            <a:off x="4553712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58" y="2090318"/>
            <a:ext cx="263347" cy="263347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995160" y="18379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48" name="Text 43"/>
          <p:cNvSpPr/>
          <p:nvPr/>
        </p:nvSpPr>
        <p:spPr>
          <a:xfrm>
            <a:off x="5212080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→ NFT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455371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fan receives a unique NFT ticket in their wallet.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>
            <a:off x="8129016" y="1773936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6"/>
          <p:cNvSpPr/>
          <p:nvPr/>
        </p:nvSpPr>
        <p:spPr>
          <a:xfrm>
            <a:off x="804672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47"/>
          <p:cNvSpPr/>
          <p:nvPr/>
        </p:nvSpPr>
        <p:spPr>
          <a:xfrm>
            <a:off x="8348472" y="1993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48"/>
          <p:cNvSpPr/>
          <p:nvPr/>
        </p:nvSpPr>
        <p:spPr>
          <a:xfrm>
            <a:off x="8302752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398" y="2090318"/>
            <a:ext cx="263347" cy="263347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10744200" y="18379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56" name="Text 50"/>
          <p:cNvSpPr/>
          <p:nvPr/>
        </p:nvSpPr>
        <p:spPr>
          <a:xfrm>
            <a:off x="8961120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 (capped)</a:t>
            </a:r>
            <a:endParaRPr lang="en-US" sz="1400" dirty="0"/>
          </a:p>
        </p:txBody>
      </p:sp>
      <p:sp>
        <p:nvSpPr>
          <p:cNvPr id="57" name="Text 51"/>
          <p:cNvSpPr/>
          <p:nvPr/>
        </p:nvSpPr>
        <p:spPr>
          <a:xfrm>
            <a:off x="830275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Resale is allowed, but never above the set cap.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630936" y="3557016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3"/>
          <p:cNvSpPr/>
          <p:nvPr/>
        </p:nvSpPr>
        <p:spPr>
          <a:xfrm>
            <a:off x="548640" y="34747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4"/>
          <p:cNvSpPr/>
          <p:nvPr/>
        </p:nvSpPr>
        <p:spPr>
          <a:xfrm>
            <a:off x="850392" y="3776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5"/>
          <p:cNvSpPr/>
          <p:nvPr/>
        </p:nvSpPr>
        <p:spPr>
          <a:xfrm>
            <a:off x="804672" y="37307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318" y="3873398"/>
            <a:ext cx="263347" cy="263347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3246120" y="3621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64" name="Text 57"/>
          <p:cNvSpPr/>
          <p:nvPr/>
        </p:nvSpPr>
        <p:spPr>
          <a:xfrm>
            <a:off x="146304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65" name="Text 58"/>
          <p:cNvSpPr/>
          <p:nvPr/>
        </p:nvSpPr>
        <p:spPr>
          <a:xfrm>
            <a:off x="804672" y="4389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checks the ticket's authenticity on Etherscan.</a:t>
            </a:r>
            <a:endParaRPr lang="en-US" sz="1150" dirty="0"/>
          </a:p>
        </p:txBody>
      </p:sp>
      <p:sp>
        <p:nvSpPr>
          <p:cNvPr id="66" name="Shape 59"/>
          <p:cNvSpPr/>
          <p:nvPr/>
        </p:nvSpPr>
        <p:spPr>
          <a:xfrm>
            <a:off x="4379976" y="3557016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0"/>
          <p:cNvSpPr/>
          <p:nvPr/>
        </p:nvSpPr>
        <p:spPr>
          <a:xfrm>
            <a:off x="4297680" y="34747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1"/>
          <p:cNvSpPr/>
          <p:nvPr/>
        </p:nvSpPr>
        <p:spPr>
          <a:xfrm>
            <a:off x="4599432" y="3776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2"/>
          <p:cNvSpPr/>
          <p:nvPr/>
        </p:nvSpPr>
        <p:spPr>
          <a:xfrm>
            <a:off x="4553712" y="37307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6358" y="3873398"/>
            <a:ext cx="263347" cy="263347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6995160" y="3621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600" dirty="0"/>
          </a:p>
        </p:txBody>
      </p:sp>
      <p:sp>
        <p:nvSpPr>
          <p:cNvPr id="72" name="Text 64"/>
          <p:cNvSpPr/>
          <p:nvPr/>
        </p:nvSpPr>
        <p:spPr>
          <a:xfrm>
            <a:off x="521208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entry</a:t>
            </a:r>
            <a:endParaRPr lang="en-US" sz="1400" dirty="0"/>
          </a:p>
        </p:txBody>
      </p:sp>
      <p:sp>
        <p:nvSpPr>
          <p:cNvPr id="73" name="Text 65"/>
          <p:cNvSpPr/>
          <p:nvPr/>
        </p:nvSpPr>
        <p:spPr>
          <a:xfrm>
            <a:off x="4553712" y="4389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holder proves ownership by signing with their wallet.</a:t>
            </a:r>
            <a:endParaRPr lang="en-US" sz="1150" dirty="0"/>
          </a:p>
        </p:txBody>
      </p:sp>
      <p:sp>
        <p:nvSpPr>
          <p:cNvPr id="74" name="Shape 66"/>
          <p:cNvSpPr/>
          <p:nvPr/>
        </p:nvSpPr>
        <p:spPr>
          <a:xfrm>
            <a:off x="8129016" y="3557016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67"/>
          <p:cNvSpPr/>
          <p:nvPr/>
        </p:nvSpPr>
        <p:spPr>
          <a:xfrm>
            <a:off x="8046720" y="34747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68"/>
          <p:cNvSpPr/>
          <p:nvPr/>
        </p:nvSpPr>
        <p:spPr>
          <a:xfrm>
            <a:off x="8348472" y="3776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69"/>
          <p:cNvSpPr/>
          <p:nvPr/>
        </p:nvSpPr>
        <p:spPr>
          <a:xfrm>
            <a:off x="8302752" y="37307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5398" y="3873398"/>
            <a:ext cx="263347" cy="263347"/>
          </a:xfrm>
          <a:prstGeom prst="rect">
            <a:avLst/>
          </a:prstGeom>
        </p:spPr>
      </p:pic>
      <p:sp>
        <p:nvSpPr>
          <p:cNvPr id="79" name="Text 70"/>
          <p:cNvSpPr/>
          <p:nvPr/>
        </p:nvSpPr>
        <p:spPr>
          <a:xfrm>
            <a:off x="10744200" y="3621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600" dirty="0"/>
          </a:p>
        </p:txBody>
      </p:sp>
      <p:sp>
        <p:nvSpPr>
          <p:cNvPr id="80" name="Text 71"/>
          <p:cNvSpPr/>
          <p:nvPr/>
        </p:nvSpPr>
        <p:spPr>
          <a:xfrm>
            <a:off x="896112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used</a:t>
            </a:r>
            <a:endParaRPr lang="en-US" sz="1400" dirty="0"/>
          </a:p>
        </p:txBody>
      </p:sp>
      <p:sp>
        <p:nvSpPr>
          <p:cNvPr id="81" name="Text 72"/>
          <p:cNvSpPr/>
          <p:nvPr/>
        </p:nvSpPr>
        <p:spPr>
          <a:xfrm>
            <a:off x="8302752" y="4389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flips to 'used': a second scan is refused.</a:t>
            </a:r>
            <a:endParaRPr lang="en-US" sz="1150" dirty="0"/>
          </a:p>
        </p:txBody>
      </p:sp>
      <p:sp>
        <p:nvSpPr>
          <p:cNvPr id="82" name="Text 73"/>
          <p:cNvSpPr/>
          <p:nvPr/>
        </p:nvSpPr>
        <p:spPr>
          <a:xfrm>
            <a:off x="548640" y="54406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00" dirty="0"/>
          </a:p>
        </p:txBody>
      </p:sp>
      <p:sp>
        <p:nvSpPr>
          <p:cNvPr id="83" name="Shape 74"/>
          <p:cNvSpPr/>
          <p:nvPr/>
        </p:nvSpPr>
        <p:spPr>
          <a:xfrm>
            <a:off x="1362456" y="5449824"/>
            <a:ext cx="2870302" cy="438912"/>
          </a:xfrm>
          <a:prstGeom prst="roundRect">
            <a:avLst>
              <a:gd name="adj" fmla="val 20833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75"/>
          <p:cNvSpPr/>
          <p:nvPr/>
        </p:nvSpPr>
        <p:spPr>
          <a:xfrm>
            <a:off x="1325880" y="5413248"/>
            <a:ext cx="287030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76"/>
          <p:cNvSpPr/>
          <p:nvPr/>
        </p:nvSpPr>
        <p:spPr>
          <a:xfrm>
            <a:off x="1325880" y="5413248"/>
            <a:ext cx="28703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· ERC-721 (OpenZeppelin)</a:t>
            </a:r>
            <a:endParaRPr lang="en-US" sz="1100" dirty="0"/>
          </a:p>
        </p:txBody>
      </p:sp>
      <p:sp>
        <p:nvSpPr>
          <p:cNvPr id="86" name="Shape 77"/>
          <p:cNvSpPr/>
          <p:nvPr/>
        </p:nvSpPr>
        <p:spPr>
          <a:xfrm>
            <a:off x="4397350" y="5449824"/>
            <a:ext cx="897026" cy="438912"/>
          </a:xfrm>
          <a:prstGeom prst="roundRect">
            <a:avLst>
              <a:gd name="adj" fmla="val 20833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78"/>
          <p:cNvSpPr/>
          <p:nvPr/>
        </p:nvSpPr>
        <p:spPr>
          <a:xfrm>
            <a:off x="4360774" y="5413248"/>
            <a:ext cx="897026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79"/>
          <p:cNvSpPr/>
          <p:nvPr/>
        </p:nvSpPr>
        <p:spPr>
          <a:xfrm>
            <a:off x="4360774" y="5413248"/>
            <a:ext cx="8970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Hardhat</a:t>
            </a:r>
            <a:endParaRPr lang="en-US" sz="1100" dirty="0"/>
          </a:p>
        </p:txBody>
      </p:sp>
      <p:sp>
        <p:nvSpPr>
          <p:cNvPr id="89" name="Shape 80"/>
          <p:cNvSpPr/>
          <p:nvPr/>
        </p:nvSpPr>
        <p:spPr>
          <a:xfrm>
            <a:off x="5458968" y="5449824"/>
            <a:ext cx="897026" cy="438912"/>
          </a:xfrm>
          <a:prstGeom prst="roundRect">
            <a:avLst>
              <a:gd name="adj" fmla="val 20833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1"/>
          <p:cNvSpPr/>
          <p:nvPr/>
        </p:nvSpPr>
        <p:spPr>
          <a:xfrm>
            <a:off x="5422392" y="5413248"/>
            <a:ext cx="897026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2"/>
          <p:cNvSpPr/>
          <p:nvPr/>
        </p:nvSpPr>
        <p:spPr>
          <a:xfrm>
            <a:off x="5422392" y="5413248"/>
            <a:ext cx="8970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100" dirty="0"/>
          </a:p>
        </p:txBody>
      </p:sp>
      <p:sp>
        <p:nvSpPr>
          <p:cNvPr id="92" name="Shape 83"/>
          <p:cNvSpPr/>
          <p:nvPr/>
        </p:nvSpPr>
        <p:spPr>
          <a:xfrm>
            <a:off x="6520586" y="5449824"/>
            <a:ext cx="972922" cy="438912"/>
          </a:xfrm>
          <a:prstGeom prst="roundRect">
            <a:avLst>
              <a:gd name="adj" fmla="val 20833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84"/>
          <p:cNvSpPr/>
          <p:nvPr/>
        </p:nvSpPr>
        <p:spPr>
          <a:xfrm>
            <a:off x="6484010" y="5413248"/>
            <a:ext cx="97292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85"/>
          <p:cNvSpPr/>
          <p:nvPr/>
        </p:nvSpPr>
        <p:spPr>
          <a:xfrm>
            <a:off x="6484010" y="5413248"/>
            <a:ext cx="97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</a:t>
            </a:r>
            <a:endParaRPr lang="en-US" sz="1100" dirty="0"/>
          </a:p>
        </p:txBody>
      </p:sp>
      <p:sp>
        <p:nvSpPr>
          <p:cNvPr id="95" name="Shape 86"/>
          <p:cNvSpPr/>
          <p:nvPr/>
        </p:nvSpPr>
        <p:spPr>
          <a:xfrm>
            <a:off x="7658100" y="5449824"/>
            <a:ext cx="897026" cy="438912"/>
          </a:xfrm>
          <a:prstGeom prst="roundRect">
            <a:avLst>
              <a:gd name="adj" fmla="val 20833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87"/>
          <p:cNvSpPr/>
          <p:nvPr/>
        </p:nvSpPr>
        <p:spPr>
          <a:xfrm>
            <a:off x="7621524" y="5413248"/>
            <a:ext cx="897026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Text 88"/>
          <p:cNvSpPr/>
          <p:nvPr/>
        </p:nvSpPr>
        <p:spPr>
          <a:xfrm>
            <a:off x="7621524" y="5413248"/>
            <a:ext cx="8970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MVP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product, live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30936" y="1911096"/>
            <a:ext cx="3611880" cy="2258568"/>
          </a:xfrm>
          <a:prstGeom prst="rect">
            <a:avLst/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1" descr="/Users/adambokobza/Desktop/afs/ticketChain/docs/bts-assignment/assets/tc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0"/>
            <a:ext cx="3611880" cy="225856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548640" y="1828800"/>
            <a:ext cx="3611880" cy="2258568"/>
          </a:xfrm>
          <a:prstGeom prst="rect">
            <a:avLst/>
          </a:prstGeom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/>
          <p:nvPr/>
        </p:nvSpPr>
        <p:spPr>
          <a:xfrm>
            <a:off x="548640" y="42062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42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 — the pitch in one screen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407408" y="1911096"/>
            <a:ext cx="3611880" cy="2258568"/>
          </a:xfrm>
          <a:prstGeom prst="rect">
            <a:avLst/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2" descr="/Users/adambokobza/Desktop/afs/ticketChain/docs/bts-assignment/assets/tc-ab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1828800"/>
            <a:ext cx="3611880" cy="225856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4325112" y="1828800"/>
            <a:ext cx="3611880" cy="2258568"/>
          </a:xfrm>
          <a:prstGeom prst="rect">
            <a:avLst/>
          </a:prstGeom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6"/>
          <p:cNvSpPr/>
          <p:nvPr/>
        </p:nvSpPr>
        <p:spPr>
          <a:xfrm>
            <a:off x="4325112" y="42062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42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· solution · why blockchain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183880" y="1911096"/>
            <a:ext cx="3611880" cy="2258568"/>
          </a:xfrm>
          <a:prstGeom prst="rect">
            <a:avLst/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3" name="Image 3" descr="/Users/adambokobza/Desktop/afs/ticketChain/docs/bts-assignment/assets/tc-conce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828800"/>
            <a:ext cx="3611880" cy="225856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8101584" y="1828800"/>
            <a:ext cx="3611880" cy="2258568"/>
          </a:xfrm>
          <a:prstGeom prst="rect">
            <a:avLst/>
          </a:prstGeom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39"/>
          <p:cNvSpPr/>
          <p:nvPr/>
        </p:nvSpPr>
        <p:spPr>
          <a:xfrm>
            <a:off x="8101584" y="42062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42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 — on-chain concert inventory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tell. </a:t>
            </a:r>
            <a:r>
              <a:rPr lang="en-US" sz="13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screens from the deployed app — the same UI we drive in the live demo.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3DD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MVP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the run of show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594360" y="18745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48640" y="18288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54864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207008" y="17922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organiser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1207008" y="21762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wallet for organizer actions.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0" y="18745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7"/>
          <p:cNvSpPr/>
          <p:nvPr/>
        </p:nvSpPr>
        <p:spPr>
          <a:xfrm>
            <a:off x="4526280" y="18288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452628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5184648" y="17922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concert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5184648" y="21762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jury demo event, on-chain.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94360" y="32461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2"/>
          <p:cNvSpPr/>
          <p:nvPr/>
        </p:nvSpPr>
        <p:spPr>
          <a:xfrm>
            <a:off x="548640" y="32004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548640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207008" y="31638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 partner sale → issue NFT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1207008" y="35478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lands in the buyer's wallet.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0" y="32461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7"/>
          <p:cNvSpPr/>
          <p:nvPr/>
        </p:nvSpPr>
        <p:spPr>
          <a:xfrm>
            <a:off x="4526280" y="32004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8"/>
          <p:cNvSpPr/>
          <p:nvPr/>
        </p:nvSpPr>
        <p:spPr>
          <a:xfrm>
            <a:off x="4526280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5184648" y="31638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My Tickets → show the NFT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5184648" y="35478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public and current.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94360" y="46177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2"/>
          <p:cNvSpPr/>
          <p:nvPr/>
        </p:nvSpPr>
        <p:spPr>
          <a:xfrm>
            <a:off x="548640" y="45720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/>
          <p:cNvSpPr/>
          <p:nvPr/>
        </p:nvSpPr>
        <p:spPr>
          <a:xfrm>
            <a:off x="548640" y="4572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207008" y="4535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+ gate entry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1207008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 signs proof with their own wallet.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0" y="46177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7"/>
          <p:cNvSpPr/>
          <p:nvPr/>
        </p:nvSpPr>
        <p:spPr>
          <a:xfrm>
            <a:off x="4526280" y="45720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8"/>
          <p:cNvSpPr/>
          <p:nvPr/>
        </p:nvSpPr>
        <p:spPr>
          <a:xfrm>
            <a:off x="4526280" y="4572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5184648" y="4535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used → second scan refused</a:t>
            </a:r>
            <a:endParaRPr lang="en-US" sz="1350" dirty="0"/>
          </a:p>
        </p:txBody>
      </p:sp>
      <p:sp>
        <p:nvSpPr>
          <p:cNvPr id="63" name="Text 60"/>
          <p:cNvSpPr/>
          <p:nvPr/>
        </p:nvSpPr>
        <p:spPr>
          <a:xfrm>
            <a:off x="5184648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anti-double-use moment, live.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14816" y="1865376"/>
            <a:ext cx="2880360" cy="4206240"/>
          </a:xfrm>
          <a:prstGeom prst="roundRect">
            <a:avLst>
              <a:gd name="adj" fmla="val 3175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2"/>
          <p:cNvSpPr/>
          <p:nvPr/>
        </p:nvSpPr>
        <p:spPr>
          <a:xfrm>
            <a:off x="8732520" y="1783080"/>
            <a:ext cx="2880360" cy="4206240"/>
          </a:xfrm>
          <a:prstGeom prst="roundRect">
            <a:avLst>
              <a:gd name="adj" fmla="val 3175"/>
            </a:avLst>
          </a:prstGeom>
          <a:solidFill>
            <a:srgbClr val="10131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3"/>
          <p:cNvSpPr/>
          <p:nvPr/>
        </p:nvSpPr>
        <p:spPr>
          <a:xfrm>
            <a:off x="90068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proof</a:t>
            </a:r>
            <a:endParaRPr lang="en-US" sz="1450" dirty="0"/>
          </a:p>
        </p:txBody>
      </p:sp>
      <p:sp>
        <p:nvSpPr>
          <p:cNvPr id="67" name="Text 64"/>
          <p:cNvSpPr/>
          <p:nvPr/>
        </p:nvSpPr>
        <p:spPr>
          <a:xfrm>
            <a:off x="9006840" y="2450592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app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[your-app].vercel.app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0xcf91…4259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sepolia.etherscan.io</a:t>
            </a:r>
            <a:endParaRPr lang="en-US" sz="1150" dirty="0"/>
          </a:p>
        </p:txBody>
      </p:sp>
      <p:sp>
        <p:nvSpPr>
          <p:cNvPr id="68" name="Text 65"/>
          <p:cNvSpPr/>
          <p:nvPr/>
        </p:nvSpPr>
        <p:spPr>
          <a:xfrm>
            <a:off x="548640" y="6053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video ready.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1D6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BUSINESS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52360" cy="3291840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(per resold ticket)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primary ticket price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 CHF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973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Resale cap (maxResalePrice)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+20% of primary price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commission on resale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5–10% of resale price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60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decide + to build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 cost (on an L2 in prod)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few cents / transaction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973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chain-dependent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margin / resold ticket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1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− gas − amortized CAC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973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computable next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8311896" y="1773936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2"/>
          <p:cNvSpPr/>
          <p:nvPr/>
        </p:nvSpPr>
        <p:spPr>
          <a:xfrm>
            <a:off x="8229600" y="169164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3"/>
          <p:cNvSpPr/>
          <p:nvPr/>
        </p:nvSpPr>
        <p:spPr>
          <a:xfrm>
            <a:off x="8549640" y="201168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4"/>
          <p:cNvSpPr/>
          <p:nvPr/>
        </p:nvSpPr>
        <p:spPr>
          <a:xfrm>
            <a:off x="8503920" y="196596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076" y="2118116"/>
            <a:ext cx="280904" cy="28090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9235440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850392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on resale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503920" y="32004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pays the seller while withholding a % for the platform / organizer.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8503920" y="42062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FFE3DD"/>
          </a:solidFill>
          <a:ln w="12700">
            <a:solidFill>
              <a:srgbClr val="D960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9"/>
          <p:cNvSpPr/>
          <p:nvPr/>
        </p:nvSpPr>
        <p:spPr>
          <a:xfrm>
            <a:off x="8641080" y="431596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D96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Honesty: </a:t>
            </a: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commission is not in the contract yet — it's our next engineering step, not a box already ticked.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2EEFB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BUSINESS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30936" y="1773936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131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868680" y="20116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822960" y="196596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6" y="2127626"/>
            <a:ext cx="298460" cy="2984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82296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5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BEACHHEAD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22960" y="30358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independent venues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822960" y="3730752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D6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200–500 seats. Immediate, concrete pain and a short sales cycle — far faster than a Ticketmaster-scale giant.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4334256" y="1773936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9"/>
          <p:cNvSpPr/>
          <p:nvPr/>
        </p:nvSpPr>
        <p:spPr>
          <a:xfrm>
            <a:off x="425196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0"/>
          <p:cNvSpPr/>
          <p:nvPr/>
        </p:nvSpPr>
        <p:spPr>
          <a:xfrm>
            <a:off x="45262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500" dirty="0"/>
          </a:p>
        </p:txBody>
      </p:sp>
      <p:sp>
        <p:nvSpPr>
          <p:cNvPr id="45" name="Shape 41"/>
          <p:cNvSpPr/>
          <p:nvPr/>
        </p:nvSpPr>
        <p:spPr>
          <a:xfrm>
            <a:off x="4572000" y="246888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2"/>
          <p:cNvSpPr/>
          <p:nvPr/>
        </p:nvSpPr>
        <p:spPr>
          <a:xfrm>
            <a:off x="4526280" y="242316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417" y="2556297"/>
            <a:ext cx="245791" cy="245791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5138928" y="2377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outreach to 1–2 local venues for a pilot event.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4572000" y="356616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5"/>
          <p:cNvSpPr/>
          <p:nvPr/>
        </p:nvSpPr>
        <p:spPr>
          <a:xfrm>
            <a:off x="4526280" y="352044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417" y="3653577"/>
            <a:ext cx="245791" cy="245791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138928" y="3474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/ Reddit communities of the venue's music scene.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4572000" y="466344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8"/>
          <p:cNvSpPr/>
          <p:nvPr/>
        </p:nvSpPr>
        <p:spPr>
          <a:xfrm>
            <a:off x="4526280" y="461772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9417" y="4750857"/>
            <a:ext cx="245791" cy="245791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5138928" y="4572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on screen (Etherscan) over an abstract pitch.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8037576" y="1773936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1"/>
          <p:cNvSpPr/>
          <p:nvPr/>
        </p:nvSpPr>
        <p:spPr>
          <a:xfrm>
            <a:off x="7955280" y="169164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2"/>
          <p:cNvSpPr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First-100 plan</a:t>
            </a:r>
            <a:endParaRPr lang="en-US" sz="1500" dirty="0"/>
          </a:p>
        </p:txBody>
      </p:sp>
      <p:sp>
        <p:nvSpPr>
          <p:cNvPr id="60" name="Shape 53"/>
          <p:cNvSpPr/>
          <p:nvPr/>
        </p:nvSpPr>
        <p:spPr>
          <a:xfrm>
            <a:off x="8266176" y="2505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4"/>
          <p:cNvSpPr/>
          <p:nvPr/>
        </p:nvSpPr>
        <p:spPr>
          <a:xfrm>
            <a:off x="8229600" y="24688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5"/>
          <p:cNvSpPr/>
          <p:nvPr/>
        </p:nvSpPr>
        <p:spPr>
          <a:xfrm>
            <a:off x="82296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3" name="Text 56"/>
          <p:cNvSpPr/>
          <p:nvPr/>
        </p:nvSpPr>
        <p:spPr>
          <a:xfrm>
            <a:off x="8796528" y="241401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event with one real partner venue.</a:t>
            </a:r>
            <a:endParaRPr lang="en-US" sz="1200" dirty="0"/>
          </a:p>
        </p:txBody>
      </p:sp>
      <p:sp>
        <p:nvSpPr>
          <p:cNvPr id="64" name="Shape 57"/>
          <p:cNvSpPr/>
          <p:nvPr/>
        </p:nvSpPr>
        <p:spPr>
          <a:xfrm>
            <a:off x="8266176" y="34198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58"/>
          <p:cNvSpPr/>
          <p:nvPr/>
        </p:nvSpPr>
        <p:spPr>
          <a:xfrm>
            <a:off x="8229600" y="33832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59"/>
          <p:cNvSpPr/>
          <p:nvPr/>
        </p:nvSpPr>
        <p:spPr>
          <a:xfrm>
            <a:off x="82296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7" name="Text 60"/>
          <p:cNvSpPr/>
          <p:nvPr/>
        </p:nvSpPr>
        <p:spPr>
          <a:xfrm>
            <a:off x="8796528" y="332841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the first buyers via that venue's community.</a:t>
            </a:r>
            <a:endParaRPr lang="en-US" sz="1200" dirty="0"/>
          </a:p>
        </p:txBody>
      </p:sp>
      <p:sp>
        <p:nvSpPr>
          <p:cNvPr id="68" name="Shape 61"/>
          <p:cNvSpPr/>
          <p:nvPr/>
        </p:nvSpPr>
        <p:spPr>
          <a:xfrm>
            <a:off x="8266176" y="43342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2"/>
          <p:cNvSpPr/>
          <p:nvPr/>
        </p:nvSpPr>
        <p:spPr>
          <a:xfrm>
            <a:off x="8229600" y="42976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3"/>
          <p:cNvSpPr/>
          <p:nvPr/>
        </p:nvSpPr>
        <p:spPr>
          <a:xfrm>
            <a:off x="82296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1" name="Text 64"/>
          <p:cNvSpPr/>
          <p:nvPr/>
        </p:nvSpPr>
        <p:spPr>
          <a:xfrm>
            <a:off x="8796528" y="424281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 tickets verified at the gate, resale captured vs. lost.</a:t>
            </a:r>
            <a:endParaRPr lang="en-US" sz="1200" dirty="0"/>
          </a:p>
        </p:txBody>
      </p:sp>
      <p:sp>
        <p:nvSpPr>
          <p:cNvPr id="72" name="Text 65"/>
          <p:cNvSpPr/>
          <p:nvPr/>
        </p:nvSpPr>
        <p:spPr>
          <a:xfrm>
            <a:off x="822960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move upmarket: </a:t>
            </a:r>
            <a:r>
              <a:rPr lang="en-US" sz="110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pilot's results become the proof to approach bigger operators.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CE9F7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COMMUNICATION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&amp; message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30936" y="1728216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0131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914400" y="16459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“Concert tickets you can't copy, can't overprice on resale, and can't use twice.”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— passes the “12-year-old” test.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30936" y="3648456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548640" y="356616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7"/>
          <p:cNvSpPr/>
          <p:nvPr/>
        </p:nvSpPr>
        <p:spPr>
          <a:xfrm>
            <a:off x="676656" y="3675888"/>
            <a:ext cx="822960" cy="73152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8"/>
          <p:cNvSpPr/>
          <p:nvPr/>
        </p:nvSpPr>
        <p:spPr>
          <a:xfrm>
            <a:off x="868680" y="38862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9"/>
          <p:cNvSpPr/>
          <p:nvPr/>
        </p:nvSpPr>
        <p:spPr>
          <a:xfrm>
            <a:off x="822960" y="384048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FFF1D6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71" y="3997391"/>
            <a:ext cx="289682" cy="28968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324612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45" name="Text 41"/>
          <p:cNvSpPr/>
          <p:nvPr/>
        </p:nvSpPr>
        <p:spPr>
          <a:xfrm>
            <a:off x="822960" y="45902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resale instead of suffering it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822960" y="5230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market pockets the speculation; TicketChain caps resale and pays you a commission on it.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4379976" y="3648456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4"/>
          <p:cNvSpPr/>
          <p:nvPr/>
        </p:nvSpPr>
        <p:spPr>
          <a:xfrm>
            <a:off x="4297680" y="356616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5"/>
          <p:cNvSpPr/>
          <p:nvPr/>
        </p:nvSpPr>
        <p:spPr>
          <a:xfrm>
            <a:off x="4425696" y="3675888"/>
            <a:ext cx="822960" cy="73152"/>
          </a:xfrm>
          <a:prstGeom prst="rect">
            <a:avLst/>
          </a:prstGeom>
          <a:solidFill>
            <a:srgbClr val="5B4B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6"/>
          <p:cNvSpPr/>
          <p:nvPr/>
        </p:nvSpPr>
        <p:spPr>
          <a:xfrm>
            <a:off x="4617720" y="38862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7"/>
          <p:cNvSpPr/>
          <p:nvPr/>
        </p:nvSpPr>
        <p:spPr>
          <a:xfrm>
            <a:off x="4572000" y="384048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ECE9F7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911" y="3997391"/>
            <a:ext cx="289682" cy="289682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699516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54" name="Text 49"/>
          <p:cNvSpPr/>
          <p:nvPr/>
        </p:nvSpPr>
        <p:spPr>
          <a:xfrm>
            <a:off x="4572000" y="45902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authenticity, checkable by anyone</a:t>
            </a:r>
            <a:endParaRPr lang="en-US" sz="1400" dirty="0"/>
          </a:p>
        </p:txBody>
      </p:sp>
      <p:sp>
        <p:nvSpPr>
          <p:cNvPr id="55" name="Text 50"/>
          <p:cNvSpPr/>
          <p:nvPr/>
        </p:nvSpPr>
        <p:spPr>
          <a:xfrm>
            <a:off x="4572000" y="5230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ticket is a unique NFT: no more fakes or duplicates, provable on a block explorer.</a:t>
            </a:r>
            <a:endParaRPr lang="en-US" sz="1150" dirty="0"/>
          </a:p>
        </p:txBody>
      </p:sp>
      <p:sp>
        <p:nvSpPr>
          <p:cNvPr id="56" name="Shape 51"/>
          <p:cNvSpPr/>
          <p:nvPr/>
        </p:nvSpPr>
        <p:spPr>
          <a:xfrm>
            <a:off x="8129016" y="3648456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2"/>
          <p:cNvSpPr/>
          <p:nvPr/>
        </p:nvSpPr>
        <p:spPr>
          <a:xfrm>
            <a:off x="8046720" y="356616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FFFDF8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3"/>
          <p:cNvSpPr/>
          <p:nvPr/>
        </p:nvSpPr>
        <p:spPr>
          <a:xfrm>
            <a:off x="8174736" y="3675888"/>
            <a:ext cx="82296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4"/>
          <p:cNvSpPr/>
          <p:nvPr/>
        </p:nvSpPr>
        <p:spPr>
          <a:xfrm>
            <a:off x="8366760" y="38862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5"/>
          <p:cNvSpPr/>
          <p:nvPr/>
        </p:nvSpPr>
        <p:spPr>
          <a:xfrm>
            <a:off x="8321040" y="384048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DFF4E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951" y="3997391"/>
            <a:ext cx="289682" cy="289682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1074420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DD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63" name="Text 57"/>
          <p:cNvSpPr/>
          <p:nvPr/>
        </p:nvSpPr>
        <p:spPr>
          <a:xfrm>
            <a:off x="8321040" y="45902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Fraud-free entry</a:t>
            </a:r>
            <a:endParaRPr lang="en-US" sz="1400" dirty="0"/>
          </a:p>
        </p:txBody>
      </p:sp>
      <p:sp>
        <p:nvSpPr>
          <p:cNvPr id="64" name="Text 58"/>
          <p:cNvSpPr/>
          <p:nvPr/>
        </p:nvSpPr>
        <p:spPr>
          <a:xfrm>
            <a:off x="8321040" y="52303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42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holder proves it with their own wallet — a screenshot or a photo is not enough.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9525">
            <a:solidFill>
              <a:srgbClr val="EBE3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52120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754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665683"/>
            <a:ext cx="351130" cy="35113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502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4B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4752" y="749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that runs. A real pain. A clear model.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68580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640080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FF4EF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1925726"/>
            <a:ext cx="263347" cy="263347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371600" y="17647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MVP on Sepolia — 17/17 validated on-chain, demoed live.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85800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5"/>
          <p:cNvSpPr/>
          <p:nvPr/>
        </p:nvSpPr>
        <p:spPr>
          <a:xfrm>
            <a:off x="640080" y="253288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CE9F7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2675534"/>
            <a:ext cx="263347" cy="263347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371600" y="2514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use of blockchain: authenticity anyone can verify.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685800" y="332841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8"/>
          <p:cNvSpPr/>
          <p:nvPr/>
        </p:nvSpPr>
        <p:spPr>
          <a:xfrm>
            <a:off x="640080" y="328269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1D6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" y="3425342"/>
            <a:ext cx="263347" cy="263347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371600" y="32644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model: commission on resale, beachhead = small independent venues.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722376" y="4379976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1"/>
          <p:cNvSpPr/>
          <p:nvPr/>
        </p:nvSpPr>
        <p:spPr>
          <a:xfrm>
            <a:off x="640080" y="429768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5D99A"/>
          </a:solidFill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2"/>
          <p:cNvSpPr/>
          <p:nvPr/>
        </p:nvSpPr>
        <p:spPr>
          <a:xfrm>
            <a:off x="914400" y="429768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0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ask:  your feedback, and an intro to an independent venue to launch the pilot.</a:t>
            </a:r>
            <a:endParaRPr lang="en-US" sz="1450" dirty="0"/>
          </a:p>
        </p:txBody>
      </p:sp>
      <p:sp>
        <p:nvSpPr>
          <p:cNvPr id="49" name="Shape 43"/>
          <p:cNvSpPr/>
          <p:nvPr/>
        </p:nvSpPr>
        <p:spPr>
          <a:xfrm>
            <a:off x="8769096" y="4361688"/>
            <a:ext cx="2926080" cy="1828800"/>
          </a:xfrm>
          <a:prstGeom prst="rect">
            <a:avLst/>
          </a:prstGeom>
          <a:solidFill>
            <a:srgbClr val="1013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0" name="Image 4" descr="/Users/adambokobza/Desktop/afs/ticketChain/docs/bts-assignment/assets/tc-ho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4279392"/>
            <a:ext cx="2926080" cy="1828800"/>
          </a:xfrm>
          <a:prstGeom prst="rect">
            <a:avLst/>
          </a:prstGeom>
        </p:spPr>
      </p:pic>
      <p:sp>
        <p:nvSpPr>
          <p:cNvPr id="51" name="Shape 44"/>
          <p:cNvSpPr/>
          <p:nvPr/>
        </p:nvSpPr>
        <p:spPr>
          <a:xfrm>
            <a:off x="8686800" y="4279392"/>
            <a:ext cx="2926080" cy="1828800"/>
          </a:xfrm>
          <a:prstGeom prst="rect">
            <a:avLst/>
          </a:prstGeom>
          <a:ln w="15875">
            <a:solidFill>
              <a:srgbClr val="10131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5"/>
          <p:cNvSpPr/>
          <p:nvPr/>
        </p:nvSpPr>
        <p:spPr>
          <a:xfrm>
            <a:off x="640080" y="6126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TicketChain · BTS FinTech Summer School — Geneva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3621</TotalTime>
  <Words>1923</Words>
  <Application>Microsoft Macintosh PowerPoint</Application>
  <PresentationFormat>Grand écran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BOKOBZA</cp:lastModifiedBy>
  <cp:revision>3</cp:revision>
  <dcterms:created xsi:type="dcterms:W3CDTF">2026-07-20T19:24:49Z</dcterms:created>
  <dcterms:modified xsi:type="dcterms:W3CDTF">2026-07-23T07:53:46Z</dcterms:modified>
</cp:coreProperties>
</file>